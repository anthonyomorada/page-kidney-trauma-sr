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9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F0F5"/>
    <a:srgbClr val="28A1FC"/>
    <a:srgbClr val="0064BF"/>
    <a:srgbClr val="1848A8"/>
    <a:srgbClr val="6BBE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31" autoAdjust="0"/>
    <p:restoredTop sz="90068" autoAdjust="0"/>
  </p:normalViewPr>
  <p:slideViewPr>
    <p:cSldViewPr snapToGrid="0" snapToObjects="1">
      <p:cViewPr>
        <p:scale>
          <a:sx n="84" d="100"/>
          <a:sy n="84" d="100"/>
        </p:scale>
        <p:origin x="1128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E81BC4-1899-4A12-82FE-E205F6E57443}" type="datetimeFigureOut">
              <a:rPr lang="en-AU" smtClean="0"/>
              <a:t>17/7/2025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6E4D1B-B8B4-42BE-8E27-936304CB9A1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01541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6E4D1B-B8B4-42BE-8E27-936304CB9A17}" type="slidenum">
              <a:rPr lang="en-AU" smtClean="0"/>
              <a:t>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2135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38CEC-66B5-8A49-AC42-B38002A774F0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2569-C1B9-504E-8638-08FA724B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744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38CEC-66B5-8A49-AC42-B38002A774F0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2569-C1B9-504E-8638-08FA724B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5708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38CEC-66B5-8A49-AC42-B38002A774F0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2569-C1B9-504E-8638-08FA724B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273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38CEC-66B5-8A49-AC42-B38002A774F0}" type="datetimeFigureOut">
              <a:rPr lang="en-US" smtClean="0"/>
              <a:t>7/17/25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2569-C1B9-504E-8638-08FA724B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907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38CEC-66B5-8A49-AC42-B38002A774F0}" type="datetimeFigureOut">
              <a:rPr lang="en-US" smtClean="0"/>
              <a:t>7/17/25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2569-C1B9-504E-8638-08FA724B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335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38CEC-66B5-8A49-AC42-B38002A774F0}" type="datetimeFigureOut">
              <a:rPr lang="en-US" smtClean="0"/>
              <a:t>7/17/25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2569-C1B9-504E-8638-08FA724B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752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38CEC-66B5-8A49-AC42-B38002A774F0}" type="datetimeFigureOut">
              <a:rPr lang="en-US" smtClean="0"/>
              <a:t>7/17/25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2569-C1B9-504E-8638-08FA724B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559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38CEC-66B5-8A49-AC42-B38002A774F0}" type="datetimeFigureOut">
              <a:rPr lang="en-US" smtClean="0"/>
              <a:t>7/17/25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2569-C1B9-504E-8638-08FA724B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9310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38CEC-66B5-8A49-AC42-B38002A774F0}" type="datetimeFigureOut">
              <a:rPr lang="en-US" smtClean="0"/>
              <a:t>7/17/25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2569-C1B9-504E-8638-08FA724B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711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38CEC-66B5-8A49-AC42-B38002A774F0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2569-C1B9-504E-8638-08FA724B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928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38CEC-66B5-8A49-AC42-B38002A774F0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B2569-C1B9-504E-8638-08FA724B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585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38CEC-66B5-8A49-AC42-B38002A774F0}" type="datetimeFigureOut">
              <a:rPr lang="en-US" smtClean="0"/>
              <a:t>7/17/25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BB2569-C1B9-504E-8638-08FA724BAC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788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E4E8EA42-2AFC-1F4D-AAD6-C1E6AF70155B}"/>
              </a:ext>
            </a:extLst>
          </p:cNvPr>
          <p:cNvSpPr/>
          <p:nvPr/>
        </p:nvSpPr>
        <p:spPr>
          <a:xfrm>
            <a:off x="3936381" y="1005840"/>
            <a:ext cx="4354270" cy="461083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7499" y="91440"/>
            <a:ext cx="11937003" cy="9144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/>
              <a:t>Bilateral Traumatic Page Kidney: First Surgical Case and Systematic Review</a:t>
            </a:r>
          </a:p>
        </p:txBody>
      </p:sp>
      <p:sp>
        <p:nvSpPr>
          <p:cNvPr id="17" name="Title 3"/>
          <p:cNvSpPr txBox="1">
            <a:spLocks/>
          </p:cNvSpPr>
          <p:nvPr/>
        </p:nvSpPr>
        <p:spPr>
          <a:xfrm>
            <a:off x="129085" y="5840183"/>
            <a:ext cx="5797891" cy="514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Morada et al. </a:t>
            </a:r>
            <a:r>
              <a:rPr lang="en-US" b="1" i="1" dirty="0"/>
              <a:t>Journal of Trauma and Acute Care Surgery</a:t>
            </a:r>
            <a:r>
              <a:rPr lang="en-US" b="1" dirty="0"/>
              <a:t>. Month Year [</a:t>
            </a:r>
            <a:r>
              <a:rPr lang="en-US" b="1" dirty="0" err="1"/>
              <a:t>doi</a:t>
            </a:r>
            <a:r>
              <a:rPr lang="en-US" b="1" dirty="0"/>
              <a:t>]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D3F694C-9EFF-4D42-90E1-21B989410462}"/>
              </a:ext>
            </a:extLst>
          </p:cNvPr>
          <p:cNvSpPr/>
          <p:nvPr/>
        </p:nvSpPr>
        <p:spPr>
          <a:xfrm>
            <a:off x="8290650" y="1005840"/>
            <a:ext cx="3901350" cy="461083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9832DBF-F18B-B74C-B356-0B344CED5D0E}"/>
              </a:ext>
            </a:extLst>
          </p:cNvPr>
          <p:cNvSpPr/>
          <p:nvPr/>
        </p:nvSpPr>
        <p:spPr>
          <a:xfrm>
            <a:off x="0" y="1005840"/>
            <a:ext cx="4024800" cy="461083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B0F0"/>
              </a:solidFill>
            </a:endParaRP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7E0409D7-99BC-45F5-92F2-AB51675346C5}"/>
              </a:ext>
            </a:extLst>
          </p:cNvPr>
          <p:cNvSpPr txBox="1">
            <a:spLocks/>
          </p:cNvSpPr>
          <p:nvPr/>
        </p:nvSpPr>
        <p:spPr>
          <a:xfrm>
            <a:off x="8620852" y="3508877"/>
            <a:ext cx="3240946" cy="176243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800" b="1" u="sng" dirty="0">
                <a:solidFill>
                  <a:schemeClr val="bg1"/>
                </a:solidFill>
              </a:rPr>
              <a:t>Systematic Review Findings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</a:rPr>
              <a:t>24 Cases (large number)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</a:rPr>
              <a:t>95.8% Male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</a:rPr>
              <a:t>Median age: 24.5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</a:rPr>
              <a:t>Left kidney: 41.7%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</a:rPr>
              <a:t>Surgical treatment: 37.5%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</a:rPr>
              <a:t>0% Mortality </a:t>
            </a:r>
            <a:r>
              <a:rPr lang="en-US" sz="1800" dirty="0"/>
              <a:t>✅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6598DCB2-880A-40C3-BDB3-03D390140AEA}"/>
              </a:ext>
            </a:extLst>
          </p:cNvPr>
          <p:cNvSpPr txBox="1">
            <a:spLocks/>
          </p:cNvSpPr>
          <p:nvPr/>
        </p:nvSpPr>
        <p:spPr>
          <a:xfrm>
            <a:off x="201088" y="1375077"/>
            <a:ext cx="3534205" cy="5145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bg1"/>
                </a:solidFill>
              </a:rPr>
              <a:t>The Problem</a:t>
            </a:r>
          </a:p>
        </p:txBody>
      </p:sp>
      <p:sp>
        <p:nvSpPr>
          <p:cNvPr id="14" name="Title 3">
            <a:extLst>
              <a:ext uri="{FF2B5EF4-FFF2-40B4-BE49-F238E27FC236}">
                <a16:creationId xmlns:a16="http://schemas.microsoft.com/office/drawing/2014/main" id="{DF3E3E4F-C5E3-4495-BA55-4F9EC6BB912F}"/>
              </a:ext>
            </a:extLst>
          </p:cNvPr>
          <p:cNvSpPr txBox="1">
            <a:spLocks/>
          </p:cNvSpPr>
          <p:nvPr/>
        </p:nvSpPr>
        <p:spPr>
          <a:xfrm>
            <a:off x="4830809" y="1431715"/>
            <a:ext cx="2530381" cy="401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bg1"/>
                </a:solidFill>
              </a:rPr>
              <a:t>The Innovation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808D77C-4417-0241-9B4C-CE7951E15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0055" y="5729659"/>
            <a:ext cx="3482129" cy="1028811"/>
          </a:xfrm>
          <a:prstGeom prst="rect">
            <a:avLst/>
          </a:prstGeom>
        </p:spPr>
      </p:pic>
      <p:sp>
        <p:nvSpPr>
          <p:cNvPr id="16" name="Title 3">
            <a:extLst>
              <a:ext uri="{FF2B5EF4-FFF2-40B4-BE49-F238E27FC236}">
                <a16:creationId xmlns:a16="http://schemas.microsoft.com/office/drawing/2014/main" id="{B6AB36D4-ED69-6F49-A150-A21AA8A989DE}"/>
              </a:ext>
            </a:extLst>
          </p:cNvPr>
          <p:cNvSpPr txBox="1">
            <a:spLocks/>
          </p:cNvSpPr>
          <p:nvPr/>
        </p:nvSpPr>
        <p:spPr>
          <a:xfrm>
            <a:off x="-361561" y="6484776"/>
            <a:ext cx="8827136" cy="315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000" b="1" dirty="0"/>
              <a:t>        @</a:t>
            </a:r>
            <a:r>
              <a:rPr lang="en-US" sz="8000" b="1" dirty="0" err="1"/>
              <a:t>JTraumAcuteSurg</a:t>
            </a:r>
            <a:r>
              <a:rPr lang="en-US" sz="8000" b="1" dirty="0"/>
              <a:t>                                    </a:t>
            </a:r>
            <a:r>
              <a:rPr lang="en-US" dirty="0"/>
              <a:t>Copyright © 2021  Wolters Kluwer Health, Inc. All rights reserved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B5FF32-B8B6-B22D-E673-EB793FA48466}"/>
              </a:ext>
            </a:extLst>
          </p:cNvPr>
          <p:cNvSpPr txBox="1"/>
          <p:nvPr/>
        </p:nvSpPr>
        <p:spPr>
          <a:xfrm>
            <a:off x="201088" y="2031549"/>
            <a:ext cx="35342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chemeClr val="bg1"/>
                </a:solidFill>
              </a:rPr>
              <a:t>Page Kidney</a:t>
            </a:r>
          </a:p>
          <a:p>
            <a:r>
              <a:rPr lang="en-US" i="1" dirty="0">
                <a:solidFill>
                  <a:schemeClr val="bg1"/>
                </a:solidFill>
              </a:rPr>
              <a:t>Renal Compression → Hypertension</a:t>
            </a:r>
          </a:p>
          <a:p>
            <a:r>
              <a:rPr lang="en-US" dirty="0">
                <a:solidFill>
                  <a:schemeClr val="bg1"/>
                </a:solidFill>
              </a:rPr>
              <a:t>Bilateral cases: &lt;5 reported globally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Our case</a:t>
            </a:r>
            <a:r>
              <a:rPr lang="en-US" dirty="0">
                <a:solidFill>
                  <a:schemeClr val="bg1"/>
                </a:solidFill>
              </a:rPr>
              <a:t>: 54M, MVC, bilateral hematomas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43BC76-88FA-97A3-2712-9A417D66A3EB}"/>
              </a:ext>
            </a:extLst>
          </p:cNvPr>
          <p:cNvSpPr txBox="1"/>
          <p:nvPr/>
        </p:nvSpPr>
        <p:spPr>
          <a:xfrm>
            <a:off x="4265115" y="1984636"/>
            <a:ext cx="3695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First Bilateral Gerota's Fascia Release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5EBBDF-9BE0-BA7F-64EB-CB4D0708D748}"/>
              </a:ext>
            </a:extLst>
          </p:cNvPr>
          <p:cNvSpPr txBox="1"/>
          <p:nvPr/>
        </p:nvSpPr>
        <p:spPr>
          <a:xfrm>
            <a:off x="4225887" y="2465721"/>
            <a:ext cx="3695334" cy="26604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Day 0:</a:t>
            </a:r>
            <a:r>
              <a:rPr lang="en-US" dirty="0">
                <a:solidFill>
                  <a:schemeClr val="bg1"/>
                </a:solidFill>
              </a:rPr>
              <a:t> MVC → Bilateral hematomas detected</a:t>
            </a:r>
          </a:p>
          <a:p>
            <a:r>
              <a:rPr lang="en-US" b="1" dirty="0">
                <a:solidFill>
                  <a:schemeClr val="bg1"/>
                </a:solidFill>
              </a:rPr>
              <a:t>Day 4:</a:t>
            </a:r>
            <a:r>
              <a:rPr lang="en-US" dirty="0">
                <a:solidFill>
                  <a:schemeClr val="bg1"/>
                </a:solidFill>
              </a:rPr>
              <a:t> ⚠️ HTN + AKI + Anuria </a:t>
            </a:r>
          </a:p>
          <a:p>
            <a:r>
              <a:rPr lang="en-US" b="1" dirty="0">
                <a:solidFill>
                  <a:schemeClr val="bg1"/>
                </a:solidFill>
              </a:rPr>
              <a:t>Day 5: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🔪 Bilateral Gerota's fascia release. </a:t>
            </a:r>
            <a:r>
              <a:rPr lang="en-US" dirty="0">
                <a:solidFill>
                  <a:schemeClr val="bg1"/>
                </a:solidFill>
              </a:rPr>
              <a:t>Staged laparotomy approach </a:t>
            </a:r>
          </a:p>
          <a:p>
            <a:r>
              <a:rPr lang="en-US" b="1" dirty="0">
                <a:solidFill>
                  <a:schemeClr val="bg1"/>
                </a:solidFill>
              </a:rPr>
              <a:t>Day 14:</a:t>
            </a:r>
            <a:r>
              <a:rPr lang="en-US" dirty="0">
                <a:solidFill>
                  <a:schemeClr val="bg1"/>
                </a:solidFill>
              </a:rPr>
              <a:t> ✅ Discharge, renal recovery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🔑 Key: Early recognition + aggressive intervention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5679B177-C4EF-562E-AA1B-C7572C3FECC1}"/>
              </a:ext>
            </a:extLst>
          </p:cNvPr>
          <p:cNvSpPr txBox="1">
            <a:spLocks/>
          </p:cNvSpPr>
          <p:nvPr/>
        </p:nvSpPr>
        <p:spPr>
          <a:xfrm>
            <a:off x="8976134" y="1441786"/>
            <a:ext cx="2530381" cy="4012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b="1" dirty="0">
                <a:solidFill>
                  <a:schemeClr val="bg1"/>
                </a:solidFill>
              </a:rPr>
              <a:t>The Evidence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97517CF-C266-8BB7-74DC-50B1E4F3BD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673" y="3624985"/>
            <a:ext cx="1781033" cy="17810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CC3567D-32D1-7B7C-F4DF-F1648AE972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3861" y="1709251"/>
            <a:ext cx="1774513" cy="177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419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481</TotalTime>
  <Words>154</Words>
  <Application>Microsoft Macintosh PowerPoint</Application>
  <PresentationFormat>Widescreen</PresentationFormat>
  <Paragraphs>24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Bilateral Traumatic Page Kidney: First Surgical Case and Systematic 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AIMS</dc:title>
  <dc:creator>Jennifer Li</dc:creator>
  <cp:lastModifiedBy>Anthony Morada</cp:lastModifiedBy>
  <cp:revision>130</cp:revision>
  <dcterms:created xsi:type="dcterms:W3CDTF">2021-04-28T04:07:31Z</dcterms:created>
  <dcterms:modified xsi:type="dcterms:W3CDTF">2025-07-18T01:18:22Z</dcterms:modified>
</cp:coreProperties>
</file>